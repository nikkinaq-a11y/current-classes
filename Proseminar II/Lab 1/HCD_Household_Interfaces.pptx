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example. Basic affordance + feedback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example. Affordances + signifiers + constraints + mapping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example. Natural mapping + multisensory feedback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example. Conceptual model +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example. Affordances + physical constraints + anti-affordances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WORK example. Poor mapping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WORK example. Poor signifiers + mapping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WORK example. Excessive complexity + poor discoverability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WORK example. Poor visibility + feedback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WORK example. Weak signifiers + delayed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188720" cy="310896"/>
          </a:xfrm>
          <a:prstGeom prst="roundRect">
            <a:avLst>
              <a:gd name="adj" fmla="val 50000"/>
            </a:avLst>
          </a:prstGeom>
          <a:solidFill>
            <a:srgbClr val="E4F2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1F7A54"/>
                </a:solidFill>
                <a:latin typeface="Arial"/>
              </a:rPr>
              <a:t>GOOD</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1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Rocker Light Switch</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1F7A54"/>
                </a:solidFill>
                <a:latin typeface="Arial"/>
              </a:rPr>
              <a:t>Basic affordance + feedback</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700" b="0" i="0" lang="en-US">
                <a:solidFill>
                  <a:srgbClr val="2E3844"/>
                </a:solidFill>
                <a:latin typeface="Arial"/>
              </a:rPr>
              <a:t>A rocker light switch is easy to use because you can see what to do just by looking at it. The raised plate stands out from the wall, which invites a press, and the two ends of the rocker show you where to push. Most people also know the convention that up means on and down means off, though Norman points out that mappings which feel natural are usually learned rather than universal. The feedback is instant. The room lights up or goes dark the moment you press, and you feel the switch travel and hear it click. All of this supports a simple conceptual model: the switch opens or closes the circuit that powers the light. Vision and touch carry most of the information, with sound as a small confirmation.</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Rocker Light Switch</a:t>
            </a:r>
            <a:endParaRPr 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188720" cy="310896"/>
          </a:xfrm>
          <a:prstGeom prst="roundRect">
            <a:avLst>
              <a:gd name="adj" fmla="val 50000"/>
            </a:avLst>
          </a:prstGeom>
          <a:solidFill>
            <a:srgbClr val="E4F2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1F7A54"/>
                </a:solidFill>
                <a:latin typeface="Arial"/>
              </a:rPr>
              <a:t>GOOD</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2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Scissors</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1F7A54"/>
                </a:solidFill>
                <a:latin typeface="Arial"/>
              </a:rPr>
              <a:t>Affordances + signifiers + constraints + mapping</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650" b="0" i="0" lang="en-US">
                <a:solidFill>
                  <a:srgbClr val="2E3844"/>
                </a:solidFill>
                <a:latin typeface="Arial"/>
              </a:rPr>
              <a:t>Scissors are a good example because so much of the design explains itself. The finger holes are open, so they invite you to put fingers in, and their different sizes hint at which hole is meant for the thumb. Those sizes also act as constraints, since there are only a few ways to hold a pair of scissors that actually work. The mapping is direct. Close your hand and the blades close, open your hand and they open. Because the pivot and the blades are all visible, you can build an accurate picture of how the tool works without anyone explaining it. The solid parts of the handles keep your fingers from sliding somewhere dangerous, and the joint holds the blades to a fixed range of motion. Vision and touch work together the whole time.</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Scissors</a:t>
            </a:r>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188720" cy="310896"/>
          </a:xfrm>
          <a:prstGeom prst="roundRect">
            <a:avLst>
              <a:gd name="adj" fmla="val 50000"/>
            </a:avLst>
          </a:prstGeom>
          <a:solidFill>
            <a:srgbClr val="E4F2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1F7A54"/>
                </a:solidFill>
                <a:latin typeface="Arial"/>
              </a:rPr>
              <a:t>GOOD</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3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Lever-Style Sink Faucet</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1F7A54"/>
                </a:solidFill>
                <a:latin typeface="Arial"/>
              </a:rPr>
              <a:t>Natural mapping + multisensory feedback</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650" b="0" i="0" lang="en-US">
                <a:solidFill>
                  <a:srgbClr val="2E3844"/>
                </a:solidFill>
                <a:latin typeface="Arial"/>
              </a:rPr>
              <a:t>A lever faucet makes its options fairly obvious. The handle sits up where your hand naturally lands, and its shape suggests that it can be lifted, pushed down, or swung side to side. The mapping follows that shape. Lifting brings more water, lowering cuts it back, and moving left or right shifts the temperature. Red and blue markings, when a manufacturer includes them, label which direction is which. Feedback arrives through several senses at once. You see the stream, hear it hit the basin, and feel both the pressure and the heat on your hand. That combination makes the link between handle position and water easy to learn. The basin itself works as an anti-affordance by catching water that would otherwise spread across the counter.</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Lever-Style Sink Faucet</a:t>
            </a:r>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188720" cy="310896"/>
          </a:xfrm>
          <a:prstGeom prst="roundRect">
            <a:avLst>
              <a:gd name="adj" fmla="val 50000"/>
            </a:avLst>
          </a:prstGeom>
          <a:solidFill>
            <a:srgbClr val="E4F2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1F7A54"/>
                </a:solidFill>
                <a:latin typeface="Arial"/>
              </a:rPr>
              <a:t>GOOD</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4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Toaster</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1F7A54"/>
                </a:solidFill>
                <a:latin typeface="Arial"/>
              </a:rPr>
              <a:t>Conceptual model + feedback</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750" b="0" i="0" lang="en-US">
                <a:solidFill>
                  <a:srgbClr val="2E3844"/>
                </a:solidFill>
                <a:latin typeface="Arial"/>
              </a:rPr>
              <a:t>A basic toaster is easy to understand because its parts are out in the open. The slots are sized for bread, which both invites you to drop a slice in and rules out anything that does not fit. The lever on the side is large and obviously meant to be pushed, and the browning dial with its numbers tells you that some settings toast harder than others. Feedback comes in stages. The lever stays down while the machine runs, then releases with a click as the toast rises into view. That sequence teaches the model on its own: load the bread, pick a setting, push the lever, wait, collect the toast. Sight, touch, hearing, and smell all report on what the toaster is doing.</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Toaster</a:t>
            </a:r>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7A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188720" cy="310896"/>
          </a:xfrm>
          <a:prstGeom prst="roundRect">
            <a:avLst>
              <a:gd name="adj" fmla="val 50000"/>
            </a:avLst>
          </a:prstGeom>
          <a:solidFill>
            <a:srgbClr val="E4F2E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1F7A54"/>
                </a:solidFill>
                <a:latin typeface="Arial"/>
              </a:rPr>
              <a:t>GOOD</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5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Electrical Outlet and Plug</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1F7A54"/>
                </a:solidFill>
                <a:latin typeface="Arial"/>
              </a:rPr>
              <a:t>Affordances + physical constraints + anti-affordances</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650" b="0" i="0" lang="en-US">
                <a:solidFill>
                  <a:srgbClr val="2E3844"/>
                </a:solidFill>
                <a:latin typeface="Arial"/>
              </a:rPr>
              <a:t>A wall outlet and plug work mostly through shape. The openings invite insertion, but only from something with matching prongs, so the geometry blocks most wrong actions before they happen. Polarized plugs go further by making one prong wider, which forces a single orientation. You can hold the plug up, compare it to the slots, and know whether it will fit before you try. The model is plain enough. Seat a matching plug and the device gets power. The plastic faceplate is an anti-affordance, covering the wiring so that fingers cannot reach it. Feedback here is indirect, since the outlet gives no sign of its own. What you get instead is resistance during insertion, a firm stop when the plug is seated, and the appliance coming to life.</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Electrical Outlet and Plug</a:t>
            </a:r>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B054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783080" cy="310896"/>
          </a:xfrm>
          <a:prstGeom prst="roundRect">
            <a:avLst>
              <a:gd name="adj" fmla="val 50000"/>
            </a:avLst>
          </a:prstGeom>
          <a:solidFill>
            <a:srgbClr val="FBECD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B0540C"/>
                </a:solidFill>
                <a:latin typeface="Arial"/>
              </a:rPr>
              <a:t>NEEDS WORK</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6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Stove Controls That Do Not Match Burner Layout</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B0540C"/>
                </a:solidFill>
                <a:latin typeface="Arial"/>
              </a:rPr>
              <a:t>Poor mapping</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700" b="0" i="0" lang="en-US">
                <a:solidFill>
                  <a:srgbClr val="2E3844"/>
                </a:solidFill>
                <a:latin typeface="Arial"/>
              </a:rPr>
              <a:t>Each knob is supposed to control one burner, which sounds simple enough. The trouble is the arrangement. Burners usually sit in a square, two in front and two in back, while the knobs run in a single line along the front panel. Nothing about that line tells you which knob belongs to which burner, so people fall back on the small diagram printed near the controls or on memory built up over months of cooking. Turning on the wrong burner is a predictable result, and it gets dangerous when something is already sitting on the hot one. Laying the knobs out in the same square as the burners would fix it. So would putting each knob near the burner it runs, which is what some newer ranges now do.</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Stove Controls That Do Not Match Burner Layout</a:t>
            </a:r>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B054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783080" cy="310896"/>
          </a:xfrm>
          <a:prstGeom prst="roundRect">
            <a:avLst>
              <a:gd name="adj" fmla="val 50000"/>
            </a:avLst>
          </a:prstGeom>
          <a:solidFill>
            <a:srgbClr val="FBECD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B0540C"/>
                </a:solidFill>
                <a:latin typeface="Arial"/>
              </a:rPr>
              <a:t>NEEDS WORK</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7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Unlabeled Multi-Switch Wall Panel</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B0540C"/>
                </a:solidFill>
                <a:latin typeface="Arial"/>
              </a:rPr>
              <a:t>Poor signifiers + mapping</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650" b="0" i="0" lang="en-US">
                <a:solidFill>
                  <a:srgbClr val="2E3844"/>
                </a:solidFill>
                <a:latin typeface="Arial"/>
              </a:rPr>
              <a:t>A panel of three or four identical switches is meant to give you separate control over separate lights. In practice it tells you nothing. Every switch looks the same and none of them is labeled, so there is no signifier for which one does what and no mapping between the row on the wall and the fixtures in the room. Most people just start flipping until something happens. It gets worse when the light is outside or in another room, because then there is no feedback to guide the guessing at all. Small labels or icons would help. Grouping the switches by area would help more, and arranging them to match the layout of the lights would let the panel explain itself. Better still is putting each switch near the thing it controls.</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Unlabeled Multi-Switch Wall Panel</a:t>
            </a:r>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B054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783080" cy="310896"/>
          </a:xfrm>
          <a:prstGeom prst="roundRect">
            <a:avLst>
              <a:gd name="adj" fmla="val 50000"/>
            </a:avLst>
          </a:prstGeom>
          <a:solidFill>
            <a:srgbClr val="FBECD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B0540C"/>
                </a:solidFill>
                <a:latin typeface="Arial"/>
              </a:rPr>
              <a:t>NEEDS WORK</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8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TV Remote with Too Many Similar Buttons</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B0540C"/>
                </a:solidFill>
                <a:latin typeface="Arial"/>
              </a:rPr>
              <a:t>Excessive complexity + poor discoverability</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600" b="0" i="0" lang="en-US">
                <a:solidFill>
                  <a:srgbClr val="2E3844"/>
                </a:solidFill>
                <a:latin typeface="Arial"/>
              </a:rPr>
              <a:t>A remote is supposed to make the television easier to use, but a crowded one does the opposite. Dozens of buttons share the same size and shape, the labels are small, some icons are unfamiliar, and nothing separates the four controls you use daily from the twenty you have never touched. Every button clearly affords pressing. The problem is that pressing tells you nothing beforehand about what will happen. Users end up memorizing positions or guessing, which is the situation Norman argues good design should prevent by keeping the necessary knowledge in the world. Cutting the button count would help immediately. Power, volume, navigation, and playback could be made larger and set apart by shape, related buttons could sit together, and the rest could move behind a sliding cover or into an on-screen menu.</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TV Remote with Too Many Similar Buttons</a:t>
            </a:r>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B054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783080" cy="310896"/>
          </a:xfrm>
          <a:prstGeom prst="roundRect">
            <a:avLst>
              <a:gd name="adj" fmla="val 50000"/>
            </a:avLst>
          </a:prstGeom>
          <a:solidFill>
            <a:srgbClr val="FBECD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B0540C"/>
                </a:solidFill>
                <a:latin typeface="Arial"/>
              </a:rPr>
              <a:t>NEEDS WORK</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9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Dishwasher Controls Hidden on the Top Edge of the Door</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B0540C"/>
                </a:solidFill>
                <a:latin typeface="Arial"/>
              </a:rPr>
              <a:t>Poor visibility + feedback</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700" b="0" i="0" lang="en-US">
                <a:solidFill>
                  <a:srgbClr val="2E3844"/>
                </a:solidFill>
                <a:latin typeface="Arial"/>
              </a:rPr>
              <a:t>Hidden controls look clean and cost the user information. When the buttons sit along the top edge of the door, they disappear the moment the door closes, which is the entire time the machine is doing its job. You cannot check the cycle, the time remaining, or whether the wash ever started. If you bump a button while loading, you may not find out for an hour. The state of the system becomes something you infer from sound rather than something you can read. Moving the essential controls to the front face would solve it. If the flush look matters, a small display on the door or a light projected onto the floor would still report whether the machine is running, finished, paused, or stuck on an error.</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Dishwasher Controls Hidden on the Top Edge of the Door</a:t>
            </a:r>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B054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endParaRPr lang="en-US"/>
          </a:p>
        </p:txBody>
      </p:sp>
      <p:sp>
        <p:nvSpPr>
          <p:cNvPr id="3" name="Rounded Rectangle 2"/>
          <p:cNvSpPr/>
          <p:nvPr/>
        </p:nvSpPr>
        <p:spPr>
          <a:xfrm>
            <a:off x="566928" y="475488"/>
            <a:ext cx="1783080" cy="310896"/>
          </a:xfrm>
          <a:prstGeom prst="roundRect">
            <a:avLst>
              <a:gd name="adj" fmla="val 50000"/>
            </a:avLst>
          </a:prstGeom>
          <a:solidFill>
            <a:srgbClr val="FBECD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wrap="square">
            <a:noAutofit/>
          </a:bodyPr>
          <a:lstStyle/>
          <a:p>
            <a:pPr algn="ctr" latinLnBrk="0" eaLnBrk="1" hangingPunct="1"/>
            <a:r>
              <a:rPr sz="1100" b="1" i="0" lang="en-US">
                <a:solidFill>
                  <a:srgbClr val="B0540C"/>
                </a:solidFill>
                <a:latin typeface="Arial"/>
              </a:rPr>
              <a:t>NEEDS WORK</a:t>
            </a:r>
            <a:endParaRPr lang="en-US"/>
          </a:p>
        </p:txBody>
      </p:sp>
      <p:sp>
        <p:nvSpPr>
          <p:cNvPr id="4" name="TextBox 3"/>
          <p:cNvSpPr txBox="1"/>
          <p:nvPr/>
        </p:nvSpPr>
        <p:spPr>
          <a:xfrm>
            <a:off x="10344607" y="502920"/>
            <a:ext cx="1280160" cy="274320"/>
          </a:xfrm>
          <a:prstGeom prst="rect">
            <a:avLst/>
          </a:prstGeom>
          <a:noFill/>
        </p:spPr>
        <p:txBody>
          <a:bodyPr wrap="square" lIns="45720" rIns="45720" tIns="27432" bIns="27432">
            <a:noAutofit/>
          </a:bodyPr>
          <a:lstStyle/>
          <a:p>
            <a:pPr algn="r" latinLnBrk="0" eaLnBrk="1" hangingPunct="1"/>
            <a:r>
              <a:rPr sz="1100" b="0" i="0" lang="en-US">
                <a:solidFill>
                  <a:srgbClr val="747F8C"/>
                </a:solidFill>
                <a:latin typeface="Arial"/>
              </a:rPr>
              <a:t>10 / 10</a:t>
            </a:r>
            <a:endParaRPr lang="en-US"/>
          </a:p>
        </p:txBody>
      </p:sp>
      <p:sp>
        <p:nvSpPr>
          <p:cNvPr id="5" name="TextBox 4"/>
          <p:cNvSpPr txBox="1"/>
          <p:nvPr/>
        </p:nvSpPr>
        <p:spPr>
          <a:xfrm>
            <a:off x="566928" y="859536"/>
            <a:ext cx="11057839" cy="475488"/>
          </a:xfrm>
          <a:prstGeom prst="rect">
            <a:avLst/>
          </a:prstGeom>
          <a:noFill/>
        </p:spPr>
        <p:txBody>
          <a:bodyPr wrap="square" lIns="45720" rIns="45720" tIns="27432" bIns="27432">
            <a:noAutofit/>
          </a:bodyPr>
          <a:lstStyle/>
          <a:p>
            <a:pPr latinLnBrk="0" eaLnBrk="1" hangingPunct="1"/>
            <a:r>
              <a:rPr sz="2900" b="1" i="0" lang="en-US">
                <a:solidFill>
                  <a:srgbClr val="1C222B"/>
                </a:solidFill>
                <a:latin typeface="Arial"/>
              </a:rPr>
              <a:t>Shower Temperature Control</a:t>
            </a:r>
            <a:endParaRPr lang="en-US"/>
          </a:p>
        </p:txBody>
      </p:sp>
      <p:sp>
        <p:nvSpPr>
          <p:cNvPr id="6" name="TextBox 5"/>
          <p:cNvSpPr txBox="1"/>
          <p:nvPr/>
        </p:nvSpPr>
        <p:spPr>
          <a:xfrm>
            <a:off x="566928" y="1316736"/>
            <a:ext cx="11057839" cy="256032"/>
          </a:xfrm>
          <a:prstGeom prst="rect">
            <a:avLst/>
          </a:prstGeom>
          <a:noFill/>
        </p:spPr>
        <p:txBody>
          <a:bodyPr wrap="square" lIns="45720" rIns="45720" tIns="27432" bIns="27432">
            <a:noAutofit/>
          </a:bodyPr>
          <a:lstStyle/>
          <a:p>
            <a:pPr latinLnBrk="0" eaLnBrk="1" hangingPunct="1"/>
            <a:r>
              <a:rPr sz="1350" b="0" i="1" lang="en-US">
                <a:solidFill>
                  <a:srgbClr val="B0540C"/>
                </a:solidFill>
                <a:latin typeface="Arial"/>
              </a:rPr>
              <a:t>Weak signifiers + delayed feedback</a:t>
            </a:r>
            <a:endParaRPr lang="en-US"/>
          </a:p>
        </p:txBody>
      </p:sp>
      <p:sp>
        <p:nvSpPr>
          <p:cNvPr id="7" name="TextBox 6"/>
          <p:cNvSpPr txBox="1"/>
          <p:nvPr/>
        </p:nvSpPr>
        <p:spPr>
          <a:xfrm>
            <a:off x="566928" y="1737360"/>
            <a:ext cx="5852160" cy="4462272"/>
          </a:xfrm>
          <a:prstGeom prst="rect">
            <a:avLst/>
          </a:prstGeom>
          <a:noFill/>
        </p:spPr>
        <p:txBody>
          <a:bodyPr wrap="square" lIns="45720" rIns="45720" tIns="27432" bIns="27432" anchor="t">
            <a:noAutofit/>
          </a:bodyPr>
          <a:lstStyle/>
          <a:p>
            <a:pPr latinLnBrk="0" eaLnBrk="1" hangingPunct="1">
              <a:lnSpc>
                <a:spcPct val="122000"/>
              </a:lnSpc>
            </a:pPr>
            <a:r>
              <a:rPr sz="1700" b="0" i="0" lang="en-US">
                <a:solidFill>
                  <a:srgbClr val="2E3844"/>
                </a:solidFill>
                <a:latin typeface="Arial"/>
              </a:rPr>
              <a:t>A shower handle should tell you how to get the temperature you want, and often it does not. The hot and cold markings are small or worn away, and rotating the handle gives no sense of how much a given movement will change things. The bigger issue is delay. Water already sitting in the pipe has to clear before the new temperature reaches you, so the handle position and the water on your skin never quite line up. People respond by turning the handle further, then get scalded or chilled a few seconds later and turn it back. Clearer markings and a more direct relationship between angle and temperature would help. A thermostatic valve that lets you dial in a number solves the feedback problem outright, and it is safer.</a:t>
            </a:r>
            <a:endParaRPr lang="en-US"/>
          </a:p>
        </p:txBody>
      </p:sp>
      <p:sp>
        <p:nvSpPr>
          <p:cNvPr id="8" name="Rounded Rectangle 7"/>
          <p:cNvSpPr/>
          <p:nvPr/>
        </p:nvSpPr>
        <p:spPr>
          <a:xfrm>
            <a:off x="6778447" y="1481328"/>
            <a:ext cx="4846320" cy="4718304"/>
          </a:xfrm>
          <a:prstGeom prst="roundRect">
            <a:avLst>
              <a:gd name="adj" fmla="val 3000"/>
            </a:avLst>
          </a:prstGeom>
          <a:solidFill>
            <a:srgbClr val="F1F3F6"/>
          </a:solidFill>
          <a:ln w="15875">
            <a:solidFill>
              <a:srgbClr val="B9C1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latinLnBrk="0" eaLnBrk="1" hangingPunct="1"/>
            <a:r>
              <a:rPr sz="1500" b="0" i="0" lang="en-US">
                <a:solidFill>
                  <a:srgbClr val="747F8C"/>
                </a:solidFill>
                <a:latin typeface="Arial"/>
              </a:rPr>
              <a:t>Image: Shower Temperature Control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